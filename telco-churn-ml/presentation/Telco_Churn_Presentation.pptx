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A5F"/>
                </a:solidFill>
                <a:latin typeface="Calibri"/>
              </a:rPr>
              <a:t>Contract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11.2</c:v>
                </c:pt>
                <c:pt idx="2">
                  <c:v>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9893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A5F"/>
                </a:solidFill>
                <a:latin typeface="Calibri"/>
              </a:rPr>
              <a:t>Internet service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Fiber optic</c:v>
                </c:pt>
                <c:pt idx="1">
                  <c:v>DSL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19.0</c:v>
                </c:pt>
                <c:pt idx="2">
                  <c:v>7.4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9893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A5F"/>
                </a:solidFill>
                <a:latin typeface="Calibri"/>
              </a:rPr>
              <a:t>Payment method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E-check</c:v>
                </c:pt>
                <c:pt idx="1">
                  <c:v>Mailed</c:v>
                </c:pt>
                <c:pt idx="2">
                  <c:v>Bank (auto)</c:v>
                </c:pt>
                <c:pt idx="3">
                  <c:v>Card (auto)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19.1</c:v>
                </c:pt>
                <c:pt idx="2">
                  <c:v>16.7</c:v>
                </c:pt>
                <c:pt idx="3">
                  <c:v>15.2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9893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A5F"/>
                </a:solidFill>
                <a:latin typeface="Calibri"/>
              </a:rPr>
              <a:t>Tenure (months)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0–12</c:v>
                </c:pt>
                <c:pt idx="1">
                  <c:v>13–24</c:v>
                </c:pt>
                <c:pt idx="2">
                  <c:v>25–48</c:v>
                </c:pt>
                <c:pt idx="3">
                  <c:v>49–72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47.5</c:v>
                </c:pt>
                <c:pt idx="1">
                  <c:v>28.6</c:v>
                </c:pt>
                <c:pt idx="2">
                  <c:v>20.4</c:v>
                </c:pt>
                <c:pt idx="3">
                  <c:v>9.5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9893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10%</c:v>
                </c:pt>
                <c:pt idx="1">
                  <c:v>20%</c:v>
                </c:pt>
                <c:pt idx="2">
                  <c:v>30%</c:v>
                </c:pt>
                <c:pt idx="3">
                  <c:v>40%</c:v>
                </c:pt>
                <c:pt idx="4">
                  <c:v>50%</c:v>
                </c:pt>
                <c:pt idx="5">
                  <c:v>60%</c:v>
                </c:pt>
                <c:pt idx="6">
                  <c:v>70%</c:v>
                </c:pt>
                <c:pt idx="7">
                  <c:v>80%</c:v>
                </c:pt>
                <c:pt idx="8">
                  <c:v>90%</c:v>
                </c:pt>
                <c:pt idx="9">
                  <c:v>100%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28.3</c:v>
                </c:pt>
                <c:pt idx="1">
                  <c:v>50.3</c:v>
                </c:pt>
                <c:pt idx="2">
                  <c:v>64.2</c:v>
                </c:pt>
                <c:pt idx="3">
                  <c:v>77.0</c:v>
                </c:pt>
                <c:pt idx="4">
                  <c:v>87.4</c:v>
                </c:pt>
                <c:pt idx="5">
                  <c:v>93.6</c:v>
                </c:pt>
                <c:pt idx="6">
                  <c:v>97.1</c:v>
                </c:pt>
                <c:pt idx="7">
                  <c:v>99.2</c:v>
                </c:pt>
                <c:pt idx="8">
                  <c:v>99.5</c:v>
                </c:pt>
                <c:pt idx="9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targeting</c:v>
                </c:pt>
              </c:strCache>
            </c:strRef>
          </c:tx>
          <c:spPr>
            <a:ln w="31750">
              <a:solidFill>
                <a:srgbClr val="9A9893"/>
              </a:solidFill>
            </a:ln>
          </c:spPr>
          <c:marker>
            <c:spPr>
              <a:solidFill>
                <a:srgbClr val="9A9893"/>
              </a:solidFill>
              <a:ln>
                <a:solidFill>
                  <a:srgbClr val="9A9893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10%</c:v>
                </c:pt>
                <c:pt idx="1">
                  <c:v>20%</c:v>
                </c:pt>
                <c:pt idx="2">
                  <c:v>30%</c:v>
                </c:pt>
                <c:pt idx="3">
                  <c:v>40%</c:v>
                </c:pt>
                <c:pt idx="4">
                  <c:v>50%</c:v>
                </c:pt>
                <c:pt idx="5">
                  <c:v>60%</c:v>
                </c:pt>
                <c:pt idx="6">
                  <c:v>70%</c:v>
                </c:pt>
                <c:pt idx="7">
                  <c:v>80%</c:v>
                </c:pt>
                <c:pt idx="8">
                  <c:v>90%</c:v>
                </c:pt>
                <c:pt idx="9">
                  <c:v>100%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10.0</c:v>
                </c:pt>
                <c:pt idx="1">
                  <c:v>20.0</c:v>
                </c:pt>
                <c:pt idx="2">
                  <c:v>30.0</c:v>
                </c:pt>
                <c:pt idx="3">
                  <c:v>40.0</c:v>
                </c:pt>
                <c:pt idx="4">
                  <c:v>50.0</c:v>
                </c:pt>
                <c:pt idx="5">
                  <c:v>60.0</c:v>
                </c:pt>
                <c:pt idx="6">
                  <c:v>70.0</c:v>
                </c:pt>
                <c:pt idx="7">
                  <c:v>80.0</c:v>
                </c:pt>
                <c:pt idx="8">
                  <c:v>90.0</c:v>
                </c:pt>
                <c:pt idx="9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% of customers contacted (highest risk first)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% of all churners reached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A (about 1 minute)</a:t>
            </a:r>
          </a:p>
          <a:p>
            <a:r>
              <a:t>Good morning. Our project asks a practical business question: which telecom customers are likely to leave, and why? We analysed 7,043 customers of a telecom provider, cleaned a deliberately messy dataset, tested which factors are associated with churn, and built machine learning models to predict it. We will finish with recommendations the company could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A (about 1.5 minutes)</a:t>
            </a:r>
          </a:p>
          <a:p>
            <a:r>
              <a:t>Read the research question. Explain that churn is costly because a lost customer stops paying and must be replaced. Walk through the four objectives: clean, explore, model, act. Stress one principle that runs through the whole project: the data are observational, so we talk about associations and predictions, not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A (about 1.5 minutes)</a:t>
            </a:r>
          </a:p>
          <a:p>
            <a:r>
              <a:t>The file had 7,073 rows and 21 columns. After removing 30 exact duplicates we have 7,043 customers. 26.5% churned. Point out why that matters: a model that always says 'no churn' is already 73.5% accurate but useless, so we cannot judge models by accuracy alone. Hand over to Presenter B for data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B (about 2 minutes)</a:t>
            </a:r>
          </a:p>
          <a:p>
            <a:r>
              <a:t>We never edited the raw file. We first loaded every value as text, which exposed problems that a normal isnull() check misses. Explain the key trick: total charges is roughly months times the monthly bill, so if one of the three values is broken we can rebuild it from the other two – far more accurate than filling in an average. Outliers: we used the IQR rule and boxplots; the extreme values were impossible errors, not real customers. After repair there are no outliers, so we deleted nothing. Leakage: these rules only use the customer's own row; anything that learns from data (median, scaling, encoding) happens later inside a Pipeline on training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B (about 2 minutes)</a:t>
            </a:r>
          </a:p>
          <a:p>
            <a:r>
              <a:t>Churn rate = churners divided by customers in the group. Month-to-month customers churn at 42.7% against 2.8% on two-year contracts. Fiber customers churn at more than twice the DSL rate. Electronic-check payers churn far more than those on automatic payment. Churn is concentrated in the first year. These are associations: fiber customers also pay more, so we cannot say fiber itself causes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B (about 1.5 minutes)</a:t>
            </a:r>
          </a:p>
          <a:p>
            <a:r>
              <a:t>The heatmap answers a fair question: month-to-month customers are newer, so is contract just a tenure effect? No – within every tenure group month-to-month churn is far higher. Second, among internet customers, online security and tech support go with much lower churn, while streaming add-ons barely matter. Third, monthly charges: the bands mostly reflect which service a customer has. Hand over to Presenter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 (about 2 minutes)</a:t>
            </a:r>
          </a:p>
          <a:p>
            <a:r>
              <a:t>With 7,000 customers almost everything is 'significant', so we also measured effect size: Cramér's V for categories and the rank-biserial correlation for numbers. Contract has the biggest effect; demographics are significant but small; gender has none. We used Mann-Whitney instead of a t-test because tenure and charges are not normally distributed, and Bonferroni because we ran 19 tests. Multicollinearity: the monthly bill is almost exactly the sum of the service prices (VIF about 836), so we removed MonthlyCharges and TotalCharges from the logistic regression. Note: scaling does not reduce VIF – a mistake in last year's example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 (about 2 minutes)</a:t>
            </a:r>
          </a:p>
          <a:p>
            <a:r>
              <a:t>Walk through the five steps. The key idea is that the test set is locked away until the very end. All preprocessing sits inside a scikit-learn Pipeline, so during cross-validation it is re-fitted on each training fold – this prevents data leakage. We fixed the selection rule before seeing test results: best cross-validated ROC-AUC, but if another model is within 0.01 we prefer the more interpretable one. ROC-AUC measures how well the model ranks churners above loyal customers. Hand over to Presenter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D (about 2 minutes)</a:t>
            </a:r>
          </a:p>
          <a:p>
            <a:r>
              <a:t>The baseline is 73.5% accurate but catches no churners – that is why accuracy is misleading. All three models reach a test ROC-AUC of about 0.84 and catch roughly 78–79% of churners. The random forest was slightly better, but within our tolerance in cross-validation, and a bootstrap test shows the difference on the test set is not statistically reliable. So by our pre-set rule we chose logistic regression, which is easier to explain and overfits least. Confusion matrix: 83 churners missed (lost revenue) and 280 loyal customers flagged (unneeded offers) – a trade-off the threshold can adjust.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D (about 2 minutes)</a:t>
            </a:r>
          </a:p>
          <a:p>
            <a:r>
              <a:t>An odds ratio below 1 means lower churn odds, above 1 higher. Holding everything else constant: two-year contracts have about a quarter of the odds of month-to-month; every extra two years of tenure roughly halves the odds; fiber optic has about 2.5 times the odds of DSL; electronic check about 1.5 times. Grey items, including gender and senior citizen, have no clear effect once other factors are included. Permutation importance and a simple decision tree agree: the riskiest group is month-to-month fiber customers in their first 13 months, with 71%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D (about 1.5 minutes)</a:t>
            </a:r>
          </a:p>
          <a:p>
            <a:r>
              <a:t>This is the most practical result. If the retention team calls the 20% of customers the model ranks as riskiest, they reach 50% of everyone who would churn – random calling would reach only 20%. In the top 10%, three in four customers really churn. Hand over to Presenter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E (about 2 minutes)</a:t>
            </a:r>
          </a:p>
          <a:p>
            <a:r>
              <a:t>Each recommendation comes from a specific finding. Contracts and tenure are the strongest drivers, so the first two actions target month-to-month and new customers. Fiber churn stays high even after controlling for other factors, which points to a service or price issue worth investigating. Automatic payment and security or support add-ons are associated with lower churn. Finally, because our data are observational, the company should test each offer with a randomised trial before rolling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E (about 1.5 minutes)</a:t>
            </a:r>
          </a:p>
          <a:p>
            <a:r>
              <a:t>Be open about limits: we can predict and describe associations, but not prove causes. The model misses churners who look loyal – probably people leaving for reasons not in the data, like competitor offers. On responsible use: the model should help staff prioritise, not decide alone, and must not disadvantage customers because of gender or 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E (about 1 minute)</a:t>
            </a:r>
          </a:p>
          <a:p>
            <a:r>
              <a:t>Summarise the three takeaways: what drives churn, how well we can predict it, and how the company can use it. Invite questions. Likely questions and answers are in presentation/speaker_guide.md.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rest card"/>
          <p:cNvSpPr/>
          <p:nvPr/>
        </p:nvSpPr>
        <p:spPr>
          <a:xfrm>
            <a:off x="822960" y="320040"/>
            <a:ext cx="1005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University crest" descr="uom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"/>
            <a:ext cx="847639" cy="1014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9C7DA"/>
                </a:solidFill>
                <a:latin typeface="Calibri"/>
              </a:rPr>
              <a:t>TM3221 – DATA SCIENCE FOR BPM · GROUP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Customer Churn Prediction and Analysis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F5A27F"/>
                </a:solidFill>
                <a:latin typeface="Calibri"/>
              </a:rPr>
              <a:t>A data-driven approach for customer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DDE4EE"/>
                </a:solidFill>
                <a:latin typeface="Calibri"/>
              </a:rPr>
              <a:t>[Group name]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DDE4EE"/>
                </a:solidFill>
                <a:latin typeface="Calibri"/>
              </a:rPr>
              <a:t>Department of Management of Technology · Faculty of Business · University of Moratuwa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Why churn matters and what we set out to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120640" cy="44805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572000" cy="2377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F3A5F"/>
                </a:solidFill>
                <a:latin typeface="Cambria"/>
              </a:rPr>
              <a:t>Which customer characteristics and service-related factors are most strongly associated with churn – and how effectively can machine learning predict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457200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Churn = a customer leaving the company. Keeping customers is usually cheaper than winning new ones, so knowing who is at risk lets retention budgets go where they matter.</a:t>
            </a:r>
          </a:p>
        </p:txBody>
      </p:sp>
      <p:sp>
        <p:nvSpPr>
          <p:cNvPr id="7" name="Oval 6"/>
          <p:cNvSpPr/>
          <p:nvPr/>
        </p:nvSpPr>
        <p:spPr>
          <a:xfrm>
            <a:off x="6172200" y="1417320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53312"/>
            <a:ext cx="46634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3A5F"/>
                </a:solidFill>
                <a:latin typeface="Calibri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19072"/>
            <a:ext cx="4663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Audit and repair a messy dataset without leaking test data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2532887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79"/>
            <a:ext cx="46634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3A5F"/>
                </a:solidFill>
                <a:latin typeface="Calibri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834639"/>
            <a:ext cx="4663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Find patterns linking demographics, services and billing to churn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3648456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584448"/>
            <a:ext cx="46634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3A5F"/>
                </a:solidFill>
                <a:latin typeface="Calibr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950208"/>
            <a:ext cx="4663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Compare logistic regression, decision tree and random forest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4764024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700016"/>
            <a:ext cx="46634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3A5F"/>
                </a:solidFill>
                <a:latin typeface="Calibri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065776"/>
            <a:ext cx="4663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Interpret the drivers and turn them into retention actions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A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The dataset: 7,043 telecom customers, 1 in 4 churned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IBM Telco Customer Churn sample data (Kaggle) – the assignment file contained injected errors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73352"/>
            <a:ext cx="31089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F3A5F"/>
                </a:solidFill>
                <a:latin typeface="Cambria"/>
              </a:rPr>
              <a:t>7,073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10896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raw rows → 7,043 customers after removing 30 duplicates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73352"/>
            <a:ext cx="31089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F3A5F"/>
                </a:solidFill>
                <a:latin typeface="Cambria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40"/>
            <a:ext cx="310896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columns: demographics, account, services and the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0020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73352"/>
            <a:ext cx="31089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EB6834"/>
                </a:solidFill>
                <a:latin typeface="Cambria"/>
              </a:rPr>
              <a:t>26.5%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310896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churned (1,869 customers): imbalanced 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Demographics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50292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gender, senior citizen, partner, dependents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375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Account &amp; billing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50292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tenure, contract, payment method, paperless billing, monthly &amp; total charges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50292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phone, multiple lines, internet type, six internet add-ons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091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12080"/>
            <a:ext cx="50292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Churn = Yes / No (left within the last month)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A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Data cleaning: repair, don't delete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Problems were documented first; every rule works row by row, so nothing leaks from the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4937760" cy="4480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F3A5F"/>
                </a:solidFill>
                <a:latin typeface="Calibri"/>
              </a:rPr>
              <a:t>30 </a:t>
            </a:r>
            <a:r>
              <a:rPr sz="1500" b="0">
                <a:solidFill>
                  <a:srgbClr val="222222"/>
                </a:solidFill>
                <a:latin typeface="Calibri"/>
              </a:rPr>
              <a:t>exact duplicate rows removed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F3A5F"/>
                </a:solidFill>
                <a:latin typeface="Calibri"/>
              </a:rPr>
              <a:t>Hidden missing values: </a:t>
            </a:r>
            <a:r>
              <a:rPr sz="1500" b="0">
                <a:solidFill>
                  <a:srgbClr val="222222"/>
                </a:solidFill>
                <a:latin typeface="Calibri"/>
              </a:rPr>
              <a:t>11 blanks and 12 'INVALID_VAL' in TotalCharges – invisible to isnull()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F3A5F"/>
                </a:solidFill>
                <a:latin typeface="Calibri"/>
              </a:rPr>
              <a:t>Impossible values: </a:t>
            </a:r>
            <a:r>
              <a:rPr sz="1500" b="0">
                <a:solidFill>
                  <a:srgbClr val="222222"/>
                </a:solidFill>
                <a:latin typeface="Calibri"/>
              </a:rPr>
              <a:t>tenure of −99 or 988 months; monthly bills up to 9,960 USD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F3A5F"/>
                </a:solidFill>
                <a:latin typeface="Calibri"/>
              </a:rPr>
              <a:t>Repaired with </a:t>
            </a:r>
            <a:r>
              <a:rPr sz="1500" b="0">
                <a:solidFill>
                  <a:srgbClr val="222222"/>
                </a:solidFill>
                <a:latin typeface="Calibri"/>
              </a:rPr>
              <a:t>TotalCharges ≈ tenure × MonthlyCharges: 2% error vs 74% for median filling</a:t>
            </a:r>
          </a:p>
          <a:p>
            <a:pPr marL="256032" indent="-256032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1F3A5F"/>
                </a:solidFill>
                <a:latin typeface="Calibri"/>
              </a:rPr>
              <a:t>Outliers: </a:t>
            </a:r>
            <a:r>
              <a:rPr sz="1500" b="0">
                <a:solidFill>
                  <a:srgbClr val="222222"/>
                </a:solidFill>
                <a:latin typeface="Calibri"/>
              </a:rPr>
              <a:t>0 remain after repair – real extremes kept, no winsorising</a:t>
            </a:r>
          </a:p>
        </p:txBody>
      </p:sp>
      <p:pic>
        <p:nvPicPr>
          <p:cNvPr id="5" name="Boxplots before and after" descr="fig02_boxplots_before_after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04837"/>
            <a:ext cx="6172200" cy="27226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5669280"/>
            <a:ext cx="60350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Before: errors stretch the axes. After: plausible ranges and no IQR outliers.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B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Who churns? Contract, internet, payment and tenure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Churn rate (%) by group · overall churn rate 26.5%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08760"/>
          <a:ext cx="27432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291840" y="1508760"/>
          <a:ext cx="274320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1508760"/>
          <a:ext cx="2743200" cy="37490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961120" y="1508760"/>
          <a:ext cx="2743200" cy="374903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Highest risk: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month-to-month (42.7%), fiber optic (41.9%), electronic check (45.3%) and the first year (47.5%). Gender shows no difference (26.9% vs 26.2%).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B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Patterns that need careful reading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Contract matters at every tenure level · protective add-ons matter, streaming does not</a:t>
            </a:r>
          </a:p>
        </p:txBody>
      </p:sp>
      <p:pic>
        <p:nvPicPr>
          <p:cNvPr id="4" name="Contract by tenure heatmap" descr="fig08_churn_contract_by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3915"/>
            <a:ext cx="5760720" cy="3475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554480"/>
            <a:ext cx="5166360" cy="1298448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664207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Contract beyond tenure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29967"/>
            <a:ext cx="47548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Even after 4+ years, month-to-month churn is 25.8% vs 3.3% on two-year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5166360" cy="1298448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127248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Security &amp; support add-ons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493008"/>
            <a:ext cx="47548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Internet customers: 14.6% churn with online security vs 41.8% without; tech support 15.2% vs 41.6%.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480560"/>
            <a:ext cx="5166360" cy="1298448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590288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Price is tangled with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956048"/>
            <a:ext cx="47548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Bills over 90 USD are 97% fiber customers – the 'price effect' is mostly a service-type effect.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B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Significant is not the same as important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Chi-square (categorical) and Mann-Whitney U (numeric) tests · Bonferroni-corrected · effect sizes</a:t>
            </a:r>
          </a:p>
        </p:txBody>
      </p:sp>
      <p:pic>
        <p:nvPicPr>
          <p:cNvPr id="4" name="Effect sizes" descr="fig11_effec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50"/>
            <a:ext cx="7498079" cy="28345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463040"/>
            <a:ext cx="3474720" cy="15087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536192"/>
            <a:ext cx="3108960" cy="58293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F3A5F"/>
                </a:solidFill>
                <a:latin typeface="Cambria"/>
              </a:rPr>
              <a:t>13 of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37410"/>
            <a:ext cx="3108960" cy="7978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categorical variables linked to churn (not gender, phone or multiple lines)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063240"/>
            <a:ext cx="3474720" cy="15087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136392"/>
            <a:ext cx="3108960" cy="58293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F3A5F"/>
                </a:solidFill>
                <a:latin typeface="Cambria"/>
              </a:rPr>
              <a:t>V = 0.41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3737610"/>
            <a:ext cx="3108960" cy="7978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contract: largest effect (medium); tenure r = -0.48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4663440"/>
            <a:ext cx="3474720" cy="150876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4736592"/>
            <a:ext cx="3108960" cy="58293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EB6834"/>
                </a:solidFill>
                <a:latin typeface="Cambria"/>
              </a:rPr>
              <a:t>VIF ≈ 836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5337809"/>
            <a:ext cx="3108960" cy="79781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MonthlyCharges is set by the services: dropped from the logistic model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C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Method: a fair, leakage-safe model comparison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Binary classification – predict Churn = Yes /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01168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41732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03120"/>
            <a:ext cx="17922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3A5F"/>
                </a:solidFill>
                <a:latin typeface="Calibri"/>
              </a:rPr>
              <a:t>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792224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Stratified 80/20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5,634 train · 1,409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00200"/>
            <a:ext cx="201168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141732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103120"/>
            <a:ext cx="17922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3A5F"/>
                </a:solidFill>
                <a:latin typeface="Calibri"/>
              </a:rP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514600"/>
            <a:ext cx="1792224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Impute → scale → one-hot,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fitted on training data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600200"/>
            <a:ext cx="201168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59" y="141732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103120"/>
            <a:ext cx="17922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3A5F"/>
                </a:solidFill>
                <a:latin typeface="Calibri"/>
              </a:rPr>
              <a:t>Tune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514600"/>
            <a:ext cx="1792224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Grid search with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stratified 5-fold CV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600200"/>
            <a:ext cx="201168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60" y="141732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2103120"/>
            <a:ext cx="17922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3A5F"/>
                </a:solidFill>
                <a:latin typeface="Calibri"/>
              </a:rP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514600"/>
            <a:ext cx="1792224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Highest CV ROC-AUC;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within 0.01 → simpler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600200"/>
            <a:ext cx="201168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0" y="141732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2103120"/>
            <a:ext cx="17922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3A5F"/>
                </a:solidFill>
                <a:latin typeface="Calibri"/>
              </a:rPr>
              <a:t>Test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2514600"/>
            <a:ext cx="1792224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All models on the same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unseen 1,409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40480"/>
            <a:ext cx="53949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Dummy baseline: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always predicts 'no churn' – the floor to 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840480"/>
            <a:ext cx="53949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Logistic regression: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interpretable: odds ratio per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Decision tree: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readable if/then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846320"/>
            <a:ext cx="53949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Random forest: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300 trees – non-linear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Imbalance: class_weight = "balanced" for every model (no SMOTE) · metrics: ROC-AUC, PR-AUC, recall, precision, F1 – not accuracy alone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C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All models beat the baseline; differences are small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Test set of 1,409 customers · threshold 0.5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7726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188720"/>
                <a:gridCol w="1280160"/>
                <a:gridCol w="777240"/>
                <a:gridCol w="960120"/>
                <a:gridCol w="54864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CV 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Dummy baseline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Logistic Regression ★</a:t>
                      </a:r>
                    </a:p>
                  </a:txBody>
                  <a:tcPr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>
                    <a:solidFill>
                      <a:srgbClr val="FD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Confusion matrices" descr="fig13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82052"/>
            <a:ext cx="7772400" cy="19514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60020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73352"/>
            <a:ext cx="28346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F3A5F"/>
                </a:solidFill>
                <a:latin typeface="Cambria"/>
              </a:rPr>
              <a:t>0.84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377440"/>
            <a:ext cx="283464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test ROC-AUC, logistic regression (95% CI 0.82–0.86)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20040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3273552"/>
            <a:ext cx="28346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EB6834"/>
                </a:solidFill>
                <a:latin typeface="Cambria"/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977639"/>
            <a:ext cx="283464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of churners caught (291 of 374); the dummy catches 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892040"/>
            <a:ext cx="320040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★ Selected: within 0.01 of the random forest in CV. On the test set the forest is +0.006 AUC, but the 95% CI (-0.001 to 0.014) includes zero.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D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What drives the predictions?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Logistic regression odds ratios (95% bootstrap intervals) – only clear effects shown; full chart in the report</a:t>
            </a:r>
          </a:p>
        </p:txBody>
      </p:sp>
      <p:pic>
        <p:nvPicPr>
          <p:cNvPr id="4" name="Odds ratios" descr="slide_odds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438487"/>
            <a:ext cx="6858000" cy="4803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508760"/>
            <a:ext cx="16002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2A78D6"/>
                </a:solidFill>
                <a:latin typeface="Cambria"/>
              </a:rPr>
              <a:t>×0.25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581912"/>
            <a:ext cx="246888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odds for a two-year vs month-to-month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532888"/>
            <a:ext cx="16002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2A78D6"/>
                </a:solidFill>
                <a:latin typeface="Cambria"/>
              </a:rPr>
              <a:t>×0.47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606040"/>
            <a:ext cx="246888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odds for every extra ~25 months of tenure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557016"/>
            <a:ext cx="16002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EB6834"/>
                </a:solidFill>
                <a:latin typeface="Cambria"/>
              </a:rPr>
              <a:t>×2.5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3630168"/>
            <a:ext cx="246888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odds for fiber optic vs DSL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581144"/>
            <a:ext cx="16002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EB6834"/>
                </a:solidFill>
                <a:latin typeface="Cambria"/>
              </a:rPr>
              <a:t>×1.5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654296"/>
            <a:ext cx="246888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odds for electronic check vs bank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623560"/>
            <a:ext cx="406908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Same top drivers in permutation importance, decision-tree rules and EDA: contract, tenure, internet type.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D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Business value: target the riskiest customers first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Cumulative gains on the test set – customers contacted in order of predicted risk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0" y="160020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73352"/>
            <a:ext cx="3520440" cy="7543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EB6834"/>
                </a:solidFill>
                <a:latin typeface="Cambria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446020"/>
            <a:ext cx="3520440" cy="7178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of all churners are in the top 20% of risk scores (random targeting: 20%)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38328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456432"/>
            <a:ext cx="3520440" cy="7543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F3A5F"/>
                </a:solidFill>
                <a:latin typeface="Cambria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229100"/>
            <a:ext cx="3520440" cy="7178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actual churn rate in the highest-risk 10% – 2.8× the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166360"/>
            <a:ext cx="3886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Use the scores to rank customers and size the contact list to the retention budget; the threshold is a business setting.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D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Recommendations for customer retention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2514E"/>
                </a:solidFill>
                <a:latin typeface="Calibri"/>
              </a:rPr>
              <a:t>Each action follows from the evidence – and should be 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847088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Longer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1089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Offer incentives to move month-to-month customers to 1–2 year plans (OR 0.25).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002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182880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847088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First-year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468880"/>
            <a:ext cx="31089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Welcome calls and early check-ins – churn is 47.5% in year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002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19" y="182880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399" y="1847088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Fix the fiber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468880"/>
            <a:ext cx="31089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Review fiber pricing, reliability and support; survey leavers (OR 2.5).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178808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Automatic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1089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Nudge electronic-check payers (45.3% churn) to automatic bank or card payment.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79" y="416052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4178808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Security &amp; support bundles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800600"/>
            <a:ext cx="31089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Trials of online security and tech support (14.6% vs 41.8% churn).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19" y="41605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9" y="4178808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Prioritise and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800600"/>
            <a:ext cx="31089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Score monthly, call the top-risk group first, and A/B-test offers to measure their real effect.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E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F3A5F"/>
                </a:solidFill>
                <a:latin typeface="Cambria"/>
              </a:rPr>
              <a:t>Limitations and responsible 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54480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F3A5F"/>
                </a:solidFill>
                <a:latin typeface="Cambria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4937760" cy="3931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Observational data: associations, not causes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Missing drivers: complaints, service quality, competitor offers – about 1 in 5 churners is hard to predict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Repaired records churned at 31.7% vs 26.4% (not significant)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IBM sample data for one provider – re-validate before real use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Balanced weights inflate probabilities: use scores for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EB6834"/>
                </a:solidFill>
                <a:latin typeface="Cambria"/>
              </a:rPr>
              <a:t>Responsible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48840"/>
            <a:ext cx="4937760" cy="3931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Decision support, not automatic decisions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Never use gender or age to offer worse terms – gender has no predictive value here anyway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Protect customer data and use it only for agreed purposes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Monitor performance monthly and retrain regularly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TM3221 · Customer Churn Prediction · Presenter E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A989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783080"/>
            <a:ext cx="9601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5A27F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194560"/>
            <a:ext cx="96012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Short contracts, short tenure, fiber optic, electronic check and missing security/support add-ons are most associated with churn; gender is not.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154679"/>
            <a:ext cx="640080" cy="6400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108960"/>
            <a:ext cx="9601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5A27F"/>
                </a:solidFill>
                <a:latin typeface="Calibri"/>
              </a:rP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520440"/>
            <a:ext cx="96012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leakage-safe logistic regression reaches test ROC-AUC 0.84 and catches 78% of churners – as good as a random forest, and explainable.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480559"/>
            <a:ext cx="640080" cy="6400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434840"/>
            <a:ext cx="9601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5A27F"/>
                </a:solidFill>
                <a:latin typeface="Calibri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846320"/>
            <a:ext cx="96012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Ranking customers by risk puts 50% of churners in the top 20% – focus retention budgets there and test offers.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DDE4EE"/>
                </a:solidFill>
                <a:latin typeface="Cambria"/>
              </a:rPr>
              <a:t>Thank you – 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and Analysis Using Machine Learning</dc:title>
  <dc:subject>TM3221 Data Science for BPM – Group Assignment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